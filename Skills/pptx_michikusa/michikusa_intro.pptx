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61" r:id="rId3"/>
    <p:sldId id="262" r:id="rId4"/>
    <p:sldId id="260" r:id="rId5"/>
    <p:sldId id="3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3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60F7A-2873-7446-8004-E4BEC14E0333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998E8-F79A-2A4D-B03E-0C9C4EF2E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8962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998E8-F79A-2A4D-B03E-0C9C4EF2EAF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7546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/>
          </p:nvPr>
        </p:nvSpPr>
        <p:spPr>
          <a:xfrm>
            <a:off x="731520" y="2194560"/>
            <a:ext cx="10698480" cy="219456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indent="0" algn="ctr">
              <a:buNone/>
              <a:defRPr sz="60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60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プレゼンタイトル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731520" y="4480560"/>
            <a:ext cx="10698480" cy="128016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indent="0" algn="ctr">
              <a:buNone/>
              <a:defRPr sz="2200" b="1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2200" b="1" dirty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ctrTitle"/>
          </p:nvPr>
        </p:nvSpPr>
        <p:spPr>
          <a:xfrm>
            <a:off x="457200" y="2377440"/>
            <a:ext cx="11247120" cy="219456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indent="0" algn="ctr">
              <a:buNone/>
              <a:defRPr sz="46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46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セクションタイトル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77240" y="274320"/>
            <a:ext cx="10515600" cy="77724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indent="0" algn="l">
              <a:buNone/>
              <a:defRPr sz="36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l">
              <a:buNone/>
            </a:pPr>
            <a:r>
              <a:rPr lang="ja-JP" sz="36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タイトルを入力</a:t>
            </a:r>
          </a:p>
        </p:txBody>
      </p:sp>
      <p:sp>
        <p:nvSpPr>
          <p:cNvPr id="1004" name="Underline"/>
          <p:cNvSpPr/>
          <p:nvPr/>
        </p:nvSpPr>
        <p:spPr>
          <a:xfrm>
            <a:off x="777240" y="1069848"/>
            <a:ext cx="5257800" cy="38100"/>
          </a:xfrm>
          <a:prstGeom prst="rect">
            <a:avLst/>
          </a:prstGeom>
          <a:gradFill flip="none" rotWithShape="1">
            <a:gsLst>
              <a:gs pos="0">
                <a:srgbClr val="00A6E8"/>
              </a:gs>
              <a:gs pos="100000">
                <a:srgbClr val="003DE8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" name="Body"/>
          <p:cNvSpPr>
            <a:spLocks noGrp="1"/>
          </p:cNvSpPr>
          <p:nvPr>
            <p:ph type="body" idx="1"/>
          </p:nvPr>
        </p:nvSpPr>
        <p:spPr>
          <a:xfrm>
            <a:off x="777240" y="1371600"/>
            <a:ext cx="10515600" cy="5029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  <a:defRPr sz="22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</a:pPr>
            <a:r>
              <a:rPr lang="ja-JP" sz="22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箇条書きをここに入力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77240" y="274320"/>
            <a:ext cx="10515600" cy="777240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 indent="0" algn="l">
              <a:buNone/>
              <a:defRPr sz="36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l">
              <a:buNone/>
            </a:pPr>
            <a:r>
              <a:rPr lang="ja-JP" sz="36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タイトルを入力</a:t>
            </a:r>
          </a:p>
        </p:txBody>
      </p:sp>
      <p:sp>
        <p:nvSpPr>
          <p:cNvPr id="1005" name="Underline"/>
          <p:cNvSpPr/>
          <p:nvPr/>
        </p:nvSpPr>
        <p:spPr>
          <a:xfrm>
            <a:off x="777240" y="1069848"/>
            <a:ext cx="5257800" cy="38100"/>
          </a:xfrm>
          <a:prstGeom prst="rect">
            <a:avLst/>
          </a:prstGeom>
          <a:gradFill flip="none" rotWithShape="1">
            <a:gsLst>
              <a:gs pos="0">
                <a:srgbClr val="00A6E8"/>
              </a:gs>
              <a:gs pos="100000">
                <a:srgbClr val="003DE8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" name="Left Column"/>
          <p:cNvSpPr>
            <a:spLocks noGrp="1"/>
          </p:cNvSpPr>
          <p:nvPr>
            <p:ph type="body" idx="1"/>
          </p:nvPr>
        </p:nvSpPr>
        <p:spPr>
          <a:xfrm>
            <a:off x="777240" y="2194560"/>
            <a:ext cx="5120640" cy="39319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  <a:defRPr sz="19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t>項目を入力</a:t>
            </a:r>
          </a:p>
        </p:txBody>
      </p:sp>
      <p:sp>
        <p:nvSpPr>
          <p:cNvPr id="12" name="Right Column"/>
          <p:cNvSpPr>
            <a:spLocks noGrp="1"/>
          </p:cNvSpPr>
          <p:nvPr>
            <p:ph type="body" idx="2"/>
          </p:nvPr>
        </p:nvSpPr>
        <p:spPr>
          <a:xfrm>
            <a:off x="6446520" y="2194560"/>
            <a:ext cx="5120640" cy="39319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  <a:defRPr sz="19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t>項目を入力</a:t>
            </a:r>
          </a:p>
        </p:txBody>
      </p:sp>
      <p:sp>
        <p:nvSpPr>
          <p:cNvPr id="9101" name="Left Subtitle"/>
          <p:cNvSpPr>
            <a:spLocks noGrp="1"/>
          </p:cNvSpPr>
          <p:nvPr>
            <p:ph type="body" sz="quarter" idx="10"/>
          </p:nvPr>
        </p:nvSpPr>
        <p:spPr>
          <a:xfrm>
            <a:off x="777240" y="1600200"/>
            <a:ext cx="5120640" cy="54864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marL="0" indent="0" algn="l">
              <a:buNone/>
            </a:pPr>
            <a:r>
              <a:rPr lang="ja-JP" sz="28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サブタイトルを入力</a:t>
            </a:r>
          </a:p>
        </p:txBody>
      </p:sp>
      <p:sp>
        <p:nvSpPr>
          <p:cNvPr id="9102" name="Right Subtitle"/>
          <p:cNvSpPr>
            <a:spLocks noGrp="1"/>
          </p:cNvSpPr>
          <p:nvPr>
            <p:ph type="body" sz="quarter" idx="11"/>
          </p:nvPr>
        </p:nvSpPr>
        <p:spPr>
          <a:xfrm>
            <a:off x="6446520" y="1600200"/>
            <a:ext cx="5120640" cy="54864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marL="0" indent="0" algn="l">
              <a:buNone/>
            </a:pPr>
            <a:r>
              <a:rPr lang="ja-JP" sz="28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サブタイトルを入力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BorderGradi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A6E8"/>
              </a:gs>
              <a:gs pos="100000">
                <a:srgbClr val="003DE8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002" name="BorderInner"/>
          <p:cNvSpPr/>
          <p:nvPr/>
        </p:nvSpPr>
        <p:spPr>
          <a:xfrm>
            <a:off x="88900" y="88900"/>
            <a:ext cx="12013895" cy="668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>
            <a:endParaRPr/>
          </a:p>
        </p:txBody>
      </p:sp>
      <p:pic>
        <p:nvPicPr>
          <p:cNvPr id="1003" name="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0207" y="320040"/>
            <a:ext cx="230428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21" Type="http://schemas.openxmlformats.org/officeDocument/2006/relationships/image" Target="../media/image24.png"/><Relationship Id="rId34" Type="http://schemas.openxmlformats.org/officeDocument/2006/relationships/image" Target="../media/image37.png"/><Relationship Id="rId7" Type="http://schemas.openxmlformats.org/officeDocument/2006/relationships/image" Target="../media/image10.png"/><Relationship Id="rId12" Type="http://schemas.openxmlformats.org/officeDocument/2006/relationships/image" Target="../media/image15.jpg"/><Relationship Id="rId17" Type="http://schemas.openxmlformats.org/officeDocument/2006/relationships/image" Target="../media/image20.png"/><Relationship Id="rId25" Type="http://schemas.openxmlformats.org/officeDocument/2006/relationships/image" Target="../media/image28.jp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2" Type="http://schemas.openxmlformats.org/officeDocument/2006/relationships/image" Target="../media/image5.jp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5" Type="http://schemas.openxmlformats.org/officeDocument/2006/relationships/image" Target="../media/image8.jp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svg"/><Relationship Id="rId35" Type="http://schemas.openxmlformats.org/officeDocument/2006/relationships/image" Target="../media/image38.jpg"/><Relationship Id="rId8" Type="http://schemas.openxmlformats.org/officeDocument/2006/relationships/image" Target="../media/image11.png"/><Relationship Id="rId3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7" Type="http://schemas.microsoft.com/office/2007/relationships/hdphoto" Target="../media/hdphoto1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jpeg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Michikusaのご紹介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Michikusa株式会社について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 err="1"/>
              <a:t>一言で言うと</a:t>
            </a:r>
            <a:r>
              <a:rPr lang="en-US" u="sng" dirty="0"/>
              <a:t>：「</a:t>
            </a:r>
            <a:r>
              <a:rPr lang="en-US" u="sng" dirty="0" err="1"/>
              <a:t>AIを教える会社</a:t>
            </a:r>
            <a:r>
              <a:rPr lang="en-US" u="sng" dirty="0"/>
              <a:t>」</a:t>
            </a:r>
          </a:p>
          <a:p>
            <a:r>
              <a:rPr dirty="0" err="1"/>
              <a:t>会社名：Michikusa株式会社</a:t>
            </a:r>
            <a:endParaRPr dirty="0"/>
          </a:p>
          <a:p>
            <a:r>
              <a:rPr lang="ja-JP" altLang="en-US"/>
              <a:t>代表取締役：臼井拓水</a:t>
            </a:r>
            <a:endParaRPr lang="en-US" dirty="0"/>
          </a:p>
          <a:p>
            <a:r>
              <a:rPr dirty="0"/>
              <a:t>住所：</a:t>
            </a:r>
            <a:r>
              <a:rPr lang="en-US" dirty="0"/>
              <a:t>150-0043 東京都渋谷区道玄坂1丁目16-3  8階</a:t>
            </a:r>
          </a:p>
          <a:p>
            <a:r>
              <a:rPr dirty="0"/>
              <a:t>設立：2023年10月</a:t>
            </a:r>
          </a:p>
          <a:p>
            <a:r>
              <a:rPr dirty="0" err="1"/>
              <a:t>事業：法人向けAI研修／</a:t>
            </a:r>
            <a:r>
              <a:rPr lang="en-US" altLang="ja-JP" dirty="0" err="1"/>
              <a:t>AI</a:t>
            </a:r>
            <a:r>
              <a:rPr lang="ja-JP" altLang="en-US"/>
              <a:t>コンサルティング</a:t>
            </a:r>
            <a:r>
              <a:rPr dirty="0"/>
              <a:t>／</a:t>
            </a:r>
            <a:r>
              <a:rPr dirty="0" err="1"/>
              <a:t>個人AI研修／コミュニティ運営</a:t>
            </a:r>
            <a:endParaRPr lang="en-US" dirty="0"/>
          </a:p>
        </p:txBody>
      </p:sp>
      <p:pic>
        <p:nvPicPr>
          <p:cNvPr id="4" name="Picture 3" descr="s006_sh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72" y="4069080"/>
            <a:ext cx="3749039" cy="2514600"/>
          </a:xfrm>
          <a:prstGeom prst="rect">
            <a:avLst/>
          </a:prstGeom>
        </p:spPr>
      </p:pic>
      <p:pic>
        <p:nvPicPr>
          <p:cNvPr id="6" name="図 5" descr="屋内, 天井, テーブル, 部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FACD489-47FE-0B46-D6BE-E9EE42681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978" y="4069080"/>
            <a:ext cx="3336108" cy="2502081"/>
          </a:xfrm>
          <a:prstGeom prst="rect">
            <a:avLst/>
          </a:prstGeom>
        </p:spPr>
      </p:pic>
      <p:pic>
        <p:nvPicPr>
          <p:cNvPr id="8" name="図 7" descr="群衆の前に立っている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7CF379C2-18F3-7693-66E0-E4E778820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8086" y="4075161"/>
            <a:ext cx="3513878" cy="25085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AI研修の導入実績</a:t>
            </a:r>
            <a:endParaRPr dirty="0"/>
          </a:p>
        </p:txBody>
      </p:sp>
      <p:pic>
        <p:nvPicPr>
          <p:cNvPr id="4" name="Picture 3" descr="s007_sh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45" y="1321308"/>
            <a:ext cx="1670608" cy="551383"/>
          </a:xfrm>
          <a:prstGeom prst="rect">
            <a:avLst/>
          </a:prstGeom>
        </p:spPr>
      </p:pic>
      <p:pic>
        <p:nvPicPr>
          <p:cNvPr id="5" name="Picture 4" descr="s007_sh03.jpg"/>
          <p:cNvPicPr>
            <a:picLocks noChangeAspect="1"/>
          </p:cNvPicPr>
          <p:nvPr/>
        </p:nvPicPr>
        <p:blipFill>
          <a:blip r:embed="rId3"/>
          <a:srcRect t="24237" b="24687"/>
          <a:stretch>
            <a:fillRect/>
          </a:stretch>
        </p:blipFill>
        <p:spPr>
          <a:xfrm>
            <a:off x="2328517" y="1198852"/>
            <a:ext cx="1417322" cy="933986"/>
          </a:xfrm>
          <a:prstGeom prst="rect">
            <a:avLst/>
          </a:prstGeom>
        </p:spPr>
      </p:pic>
      <p:pic>
        <p:nvPicPr>
          <p:cNvPr id="6" name="Picture 5" descr="s007_sh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922" y="1459056"/>
            <a:ext cx="1975104" cy="358444"/>
          </a:xfrm>
          <a:prstGeom prst="rect">
            <a:avLst/>
          </a:prstGeom>
        </p:spPr>
      </p:pic>
      <p:pic>
        <p:nvPicPr>
          <p:cNvPr id="7" name="Picture 6" descr="s007_sh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082" y="1321308"/>
            <a:ext cx="1504188" cy="576072"/>
          </a:xfrm>
          <a:prstGeom prst="rect">
            <a:avLst/>
          </a:prstGeom>
        </p:spPr>
      </p:pic>
      <p:pic>
        <p:nvPicPr>
          <p:cNvPr id="8" name="Picture 7" descr="s007_sh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8586" y="1176319"/>
            <a:ext cx="1670608" cy="904776"/>
          </a:xfrm>
          <a:prstGeom prst="rect">
            <a:avLst/>
          </a:prstGeom>
        </p:spPr>
      </p:pic>
      <p:pic>
        <p:nvPicPr>
          <p:cNvPr id="9" name="Picture 8" descr="s007_sh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4157" y="1176319"/>
            <a:ext cx="1665122" cy="882396"/>
          </a:xfrm>
          <a:prstGeom prst="rect">
            <a:avLst/>
          </a:prstGeom>
        </p:spPr>
      </p:pic>
      <p:pic>
        <p:nvPicPr>
          <p:cNvPr id="10" name="Picture 9" descr="s007_sh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385" y="2142439"/>
            <a:ext cx="1665122" cy="555040"/>
          </a:xfrm>
          <a:prstGeom prst="rect">
            <a:avLst/>
          </a:prstGeom>
        </p:spPr>
      </p:pic>
      <p:pic>
        <p:nvPicPr>
          <p:cNvPr id="11" name="Picture 10" descr="s007_sh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3193" y="2142439"/>
            <a:ext cx="1078643" cy="541354"/>
          </a:xfrm>
          <a:prstGeom prst="rect">
            <a:avLst/>
          </a:prstGeom>
        </p:spPr>
      </p:pic>
      <p:pic>
        <p:nvPicPr>
          <p:cNvPr id="12" name="Picture 11" descr="s007_sh27.png"/>
          <p:cNvPicPr>
            <a:picLocks noChangeAspect="1"/>
          </p:cNvPicPr>
          <p:nvPr/>
        </p:nvPicPr>
        <p:blipFill>
          <a:blip r:embed="rId10"/>
          <a:srcRect l="14106" t="14106" r="14289" b="14289"/>
          <a:stretch>
            <a:fillRect/>
          </a:stretch>
        </p:blipFill>
        <p:spPr>
          <a:xfrm>
            <a:off x="4097170" y="1904956"/>
            <a:ext cx="1670608" cy="1034209"/>
          </a:xfrm>
          <a:prstGeom prst="rect">
            <a:avLst/>
          </a:prstGeom>
        </p:spPr>
      </p:pic>
      <p:pic>
        <p:nvPicPr>
          <p:cNvPr id="13" name="Picture 12" descr="s007_sh2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88535" y="4487991"/>
            <a:ext cx="1561795" cy="621792"/>
          </a:xfrm>
          <a:prstGeom prst="rect">
            <a:avLst/>
          </a:prstGeom>
        </p:spPr>
      </p:pic>
      <p:pic>
        <p:nvPicPr>
          <p:cNvPr id="14" name="Picture 13" descr="s007_sh0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45675" y="1994133"/>
            <a:ext cx="1042113" cy="754151"/>
          </a:xfrm>
          <a:prstGeom prst="rect">
            <a:avLst/>
          </a:prstGeom>
        </p:spPr>
      </p:pic>
      <p:pic>
        <p:nvPicPr>
          <p:cNvPr id="16" name="Picture 15" descr="s007_sh09.png"/>
          <p:cNvPicPr>
            <a:picLocks noChangeAspect="1"/>
          </p:cNvPicPr>
          <p:nvPr/>
        </p:nvPicPr>
        <p:blipFill>
          <a:blip r:embed="rId13"/>
          <a:srcRect l="19379" t="18633" r="18633" b="19379"/>
          <a:stretch>
            <a:fillRect/>
          </a:stretch>
        </p:blipFill>
        <p:spPr>
          <a:xfrm>
            <a:off x="3980852" y="2659816"/>
            <a:ext cx="1877642" cy="914400"/>
          </a:xfrm>
          <a:prstGeom prst="rect">
            <a:avLst/>
          </a:prstGeom>
        </p:spPr>
      </p:pic>
      <p:pic>
        <p:nvPicPr>
          <p:cNvPr id="17" name="Picture 16" descr="s007_sh0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1426" y="2967114"/>
            <a:ext cx="1511503" cy="404164"/>
          </a:xfrm>
          <a:prstGeom prst="rect">
            <a:avLst/>
          </a:prstGeom>
        </p:spPr>
      </p:pic>
      <p:pic>
        <p:nvPicPr>
          <p:cNvPr id="19" name="Picture 18" descr="s007_sh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3615" y="3661338"/>
            <a:ext cx="1557223" cy="476402"/>
          </a:xfrm>
          <a:prstGeom prst="rect">
            <a:avLst/>
          </a:prstGeom>
        </p:spPr>
      </p:pic>
      <p:pic>
        <p:nvPicPr>
          <p:cNvPr id="21" name="Picture 20" descr="s007_sh2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38282" y="3707730"/>
            <a:ext cx="1580997" cy="502005"/>
          </a:xfrm>
          <a:prstGeom prst="rect">
            <a:avLst/>
          </a:prstGeom>
        </p:spPr>
      </p:pic>
      <p:pic>
        <p:nvPicPr>
          <p:cNvPr id="22" name="Picture 21" descr="s007_sh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4255" y="4532507"/>
            <a:ext cx="1504188" cy="687628"/>
          </a:xfrm>
          <a:prstGeom prst="rect">
            <a:avLst/>
          </a:prstGeom>
        </p:spPr>
      </p:pic>
      <p:pic>
        <p:nvPicPr>
          <p:cNvPr id="23" name="Picture 22" descr="s007_sh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30419" y="5180292"/>
            <a:ext cx="1504188" cy="933986"/>
          </a:xfrm>
          <a:prstGeom prst="rect">
            <a:avLst/>
          </a:prstGeom>
        </p:spPr>
      </p:pic>
      <p:pic>
        <p:nvPicPr>
          <p:cNvPr id="24" name="Picture 23" descr="s007_sh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05377" y="5109783"/>
            <a:ext cx="1809597" cy="833018"/>
          </a:xfrm>
          <a:prstGeom prst="rect">
            <a:avLst/>
          </a:prstGeom>
        </p:spPr>
      </p:pic>
      <p:pic>
        <p:nvPicPr>
          <p:cNvPr id="25" name="Picture 24" descr="s007_sh1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61971" y="2057778"/>
            <a:ext cx="1557223" cy="480974"/>
          </a:xfrm>
          <a:prstGeom prst="rect">
            <a:avLst/>
          </a:prstGeom>
        </p:spPr>
      </p:pic>
      <p:pic>
        <p:nvPicPr>
          <p:cNvPr id="26" name="Picture 25" descr="s007_sh2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49999" y="2916778"/>
            <a:ext cx="631543" cy="540979"/>
          </a:xfrm>
          <a:prstGeom prst="rect">
            <a:avLst/>
          </a:prstGeom>
        </p:spPr>
      </p:pic>
      <p:pic>
        <p:nvPicPr>
          <p:cNvPr id="27" name="Picture 26" descr="s007_sh28.png"/>
          <p:cNvPicPr>
            <a:picLocks noChangeAspect="1"/>
          </p:cNvPicPr>
          <p:nvPr/>
        </p:nvPicPr>
        <p:blipFill>
          <a:blip r:embed="rId22"/>
          <a:srcRect l="19946" t="19048" r="15034" b="16667"/>
          <a:stretch>
            <a:fillRect/>
          </a:stretch>
        </p:blipFill>
        <p:spPr>
          <a:xfrm>
            <a:off x="6289279" y="1973106"/>
            <a:ext cx="1446888" cy="786834"/>
          </a:xfrm>
          <a:prstGeom prst="rect">
            <a:avLst/>
          </a:prstGeom>
        </p:spPr>
      </p:pic>
      <p:pic>
        <p:nvPicPr>
          <p:cNvPr id="28" name="Picture 27" descr="s007_sh16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4859" y="5515396"/>
            <a:ext cx="1324051" cy="358444"/>
          </a:xfrm>
          <a:prstGeom prst="rect">
            <a:avLst/>
          </a:prstGeom>
        </p:spPr>
      </p:pic>
      <p:pic>
        <p:nvPicPr>
          <p:cNvPr id="29" name="Picture 28" descr="s007_sh1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25420" y="4649289"/>
            <a:ext cx="1846173" cy="433425"/>
          </a:xfrm>
          <a:prstGeom prst="rect">
            <a:avLst/>
          </a:prstGeom>
        </p:spPr>
      </p:pic>
      <p:pic>
        <p:nvPicPr>
          <p:cNvPr id="30" name="Picture 29" descr="s007_sh13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04662" y="5462668"/>
            <a:ext cx="1745589" cy="311810"/>
          </a:xfrm>
          <a:prstGeom prst="rect">
            <a:avLst/>
          </a:prstGeom>
        </p:spPr>
      </p:pic>
      <p:pic>
        <p:nvPicPr>
          <p:cNvPr id="31" name="Picture 30" descr="s007_sh1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83761" y="4547037"/>
            <a:ext cx="1976932" cy="460857"/>
          </a:xfrm>
          <a:prstGeom prst="rect">
            <a:avLst/>
          </a:prstGeom>
        </p:spPr>
      </p:pic>
      <p:pic>
        <p:nvPicPr>
          <p:cNvPr id="32" name="Picture 31" descr="s007_sh22.png"/>
          <p:cNvPicPr>
            <a:picLocks noChangeAspect="1"/>
          </p:cNvPicPr>
          <p:nvPr/>
        </p:nvPicPr>
        <p:blipFill>
          <a:blip r:embed="rId27"/>
          <a:srcRect l="8045" t="27068" r="7417" b="23623"/>
          <a:stretch>
            <a:fillRect/>
          </a:stretch>
        </p:blipFill>
        <p:spPr>
          <a:xfrm>
            <a:off x="8061971" y="4547037"/>
            <a:ext cx="1846173" cy="578883"/>
          </a:xfrm>
          <a:prstGeom prst="rect">
            <a:avLst/>
          </a:prstGeom>
        </p:spPr>
      </p:pic>
      <p:pic>
        <p:nvPicPr>
          <p:cNvPr id="33" name="Picture 32" descr="s007_sh21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39433" y="2789835"/>
            <a:ext cx="1987905" cy="639165"/>
          </a:xfrm>
          <a:prstGeom prst="rect">
            <a:avLst/>
          </a:prstGeom>
        </p:spPr>
      </p:pic>
      <p:pic>
        <p:nvPicPr>
          <p:cNvPr id="36" name="グラフィックス 35">
            <a:extLst>
              <a:ext uri="{FF2B5EF4-FFF2-40B4-BE49-F238E27FC236}">
                <a16:creationId xmlns:a16="http://schemas.microsoft.com/office/drawing/2014/main" id="{973D71B1-535A-16E9-46AC-8A905A50282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88290" y="2967227"/>
            <a:ext cx="1611826" cy="417881"/>
          </a:xfrm>
          <a:prstGeom prst="rect">
            <a:avLst/>
          </a:prstGeom>
        </p:spPr>
      </p:pic>
      <p:pic>
        <p:nvPicPr>
          <p:cNvPr id="37" name="Google Shape;228;p21" title="head-logo.png">
            <a:extLst>
              <a:ext uri="{FF2B5EF4-FFF2-40B4-BE49-F238E27FC236}">
                <a16:creationId xmlns:a16="http://schemas.microsoft.com/office/drawing/2014/main" id="{422CC4C1-7941-01A1-5349-935DE473B990}"/>
              </a:ext>
            </a:extLst>
          </p:cNvPr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4017973" y="3693738"/>
            <a:ext cx="1849163" cy="471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229;p21" title="Uuum_Logo.svg.png">
            <a:extLst>
              <a:ext uri="{FF2B5EF4-FFF2-40B4-BE49-F238E27FC236}">
                <a16:creationId xmlns:a16="http://schemas.microsoft.com/office/drawing/2014/main" id="{E0951869-4BA4-E7FF-A897-5FA35694CFC2}"/>
              </a:ext>
            </a:extLst>
          </p:cNvPr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2269857" y="3732365"/>
            <a:ext cx="1480798" cy="43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230;p21" title="CleanShot 2026-03-25 at 17.20.29@2x.png">
            <a:extLst>
              <a:ext uri="{FF2B5EF4-FFF2-40B4-BE49-F238E27FC236}">
                <a16:creationId xmlns:a16="http://schemas.microsoft.com/office/drawing/2014/main" id="{3C7C5181-426D-C062-353F-A4998759BA8C}"/>
              </a:ext>
            </a:extLst>
          </p:cNvPr>
          <p:cNvPicPr preferRelativeResize="0"/>
          <p:nvPr/>
        </p:nvPicPr>
        <p:blipFill rotWithShape="1">
          <a:blip r:embed="rId33">
            <a:alphaModFix/>
          </a:blip>
          <a:srcRect t="13896" r="3016" b="14512"/>
          <a:stretch/>
        </p:blipFill>
        <p:spPr>
          <a:xfrm>
            <a:off x="10297670" y="4547037"/>
            <a:ext cx="954608" cy="402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231;p21" title="CleanShot 2026-04-16 at 10.15.34@2x-Photoroom.png">
            <a:extLst>
              <a:ext uri="{FF2B5EF4-FFF2-40B4-BE49-F238E27FC236}">
                <a16:creationId xmlns:a16="http://schemas.microsoft.com/office/drawing/2014/main" id="{59909837-196A-6BF0-3002-89F3F9F16329}"/>
              </a:ext>
            </a:extLst>
          </p:cNvPr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8148385" y="5515396"/>
            <a:ext cx="1612190" cy="256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232;p21" title="JCIマーク⑧.jpg">
            <a:extLst>
              <a:ext uri="{FF2B5EF4-FFF2-40B4-BE49-F238E27FC236}">
                <a16:creationId xmlns:a16="http://schemas.microsoft.com/office/drawing/2014/main" id="{02255BB2-B337-F676-F4BA-5E77CA7683DA}"/>
              </a:ext>
            </a:extLst>
          </p:cNvPr>
          <p:cNvPicPr preferRelativeResize="0"/>
          <p:nvPr/>
        </p:nvPicPr>
        <p:blipFill rotWithShape="1">
          <a:blip r:embed="rId35">
            <a:alphaModFix/>
          </a:blip>
          <a:srcRect t="20051"/>
          <a:stretch/>
        </p:blipFill>
        <p:spPr>
          <a:xfrm>
            <a:off x="8169566" y="3640476"/>
            <a:ext cx="1369032" cy="578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233;p21" title="大阪商工会議所JP+EN+OCCIロゴ (2).png">
            <a:extLst>
              <a:ext uri="{FF2B5EF4-FFF2-40B4-BE49-F238E27FC236}">
                <a16:creationId xmlns:a16="http://schemas.microsoft.com/office/drawing/2014/main" id="{0DA6AD46-92DD-CCFE-13E4-A63511E396DE}"/>
              </a:ext>
            </a:extLst>
          </p:cNvPr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8038806" y="3006263"/>
            <a:ext cx="1851254" cy="206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図 4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42A8B31-4EC7-AC4E-8F6F-2E320A614BC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27242" y="3574216"/>
            <a:ext cx="1705855" cy="914400"/>
          </a:xfrm>
          <a:prstGeom prst="rect">
            <a:avLst/>
          </a:prstGeom>
        </p:spPr>
      </p:pic>
      <p:pic>
        <p:nvPicPr>
          <p:cNvPr id="46" name="図 45" descr="ロゴ, 会社名&#10;&#10;AI 生成コンテンツは誤りを含む可能性があります。">
            <a:extLst>
              <a:ext uri="{FF2B5EF4-FFF2-40B4-BE49-F238E27FC236}">
                <a16:creationId xmlns:a16="http://schemas.microsoft.com/office/drawing/2014/main" id="{939553A5-E01E-D734-96F0-AC13A1332064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l="5365" t="32951" r="4656" b="32618"/>
          <a:stretch>
            <a:fillRect/>
          </a:stretch>
        </p:blipFill>
        <p:spPr>
          <a:xfrm>
            <a:off x="9861743" y="5437974"/>
            <a:ext cx="1934073" cy="4111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代表</a:t>
            </a:r>
            <a:r>
              <a:rPr dirty="0"/>
              <a:t>臼井拓水</a:t>
            </a:r>
            <a:r>
              <a:rPr lang="en-US" dirty="0"/>
              <a:t> </a:t>
            </a:r>
            <a:r>
              <a:rPr dirty="0" err="1"/>
              <a:t>usutaku</a:t>
            </a:r>
            <a:r>
              <a:rPr lang="ja-JP" altLang="en-US"/>
              <a:t>について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000" dirty="0" err="1"/>
              <a:t>在学中</a:t>
            </a:r>
            <a:r>
              <a:rPr lang="ja-JP" altLang="en-US" sz="2000"/>
              <a:t>、東大松尾研と共同運営</a:t>
            </a:r>
            <a:r>
              <a:rPr sz="2000" dirty="0" err="1"/>
              <a:t>AI系VC</a:t>
            </a:r>
            <a:r>
              <a:rPr sz="2000" dirty="0"/>
              <a:t> PKSHA Capital </a:t>
            </a:r>
            <a:r>
              <a:rPr sz="2000" dirty="0" err="1"/>
              <a:t>アソシエイト</a:t>
            </a:r>
            <a:endParaRPr sz="2000" dirty="0"/>
          </a:p>
          <a:p>
            <a:r>
              <a:rPr lang="en-US" altLang="ja-JP" sz="2000" dirty="0" err="1"/>
              <a:t>ICU</a:t>
            </a:r>
            <a:r>
              <a:rPr sz="2000" dirty="0" err="1"/>
              <a:t>卒業後Amazon</a:t>
            </a:r>
            <a:r>
              <a:rPr sz="2000" dirty="0"/>
              <a:t> </a:t>
            </a:r>
            <a:r>
              <a:rPr sz="2000" dirty="0" err="1"/>
              <a:t>Japanに入社</a:t>
            </a:r>
            <a:r>
              <a:rPr lang="ja-JP" altLang="en-US" sz="2000"/>
              <a:t>し法人営業と社内業務効率化に従事</a:t>
            </a:r>
            <a:endParaRPr lang="en-US" altLang="ja-JP" sz="2000" dirty="0"/>
          </a:p>
          <a:p>
            <a:r>
              <a:rPr sz="2000" u="sng" dirty="0"/>
              <a:t>2023年Michikusa株式会社を起業</a:t>
            </a:r>
            <a:r>
              <a:rPr sz="2000" dirty="0"/>
              <a:t>（AI研修）</a:t>
            </a:r>
          </a:p>
          <a:p>
            <a:r>
              <a:rPr lang="en-US" altLang="ja-JP" sz="2000" dirty="0"/>
              <a:t>2023</a:t>
            </a:r>
            <a:r>
              <a:rPr lang="ja-JP" altLang="en-US" sz="2000"/>
              <a:t>年</a:t>
            </a:r>
            <a:r>
              <a:rPr sz="2000" dirty="0"/>
              <a:t>Microsoft Startup </a:t>
            </a:r>
            <a:r>
              <a:rPr lang="en-US" altLang="ja-JP" sz="2000" dirty="0"/>
              <a:t>Hub</a:t>
            </a:r>
            <a:r>
              <a:rPr lang="ja-JP" altLang="en-US" sz="2000"/>
              <a:t>採択</a:t>
            </a:r>
            <a:endParaRPr lang="en-US" altLang="ja-JP" sz="2000" dirty="0"/>
          </a:p>
          <a:p>
            <a:r>
              <a:rPr lang="en-US" altLang="ja-JP" sz="2000" dirty="0"/>
              <a:t>2024</a:t>
            </a:r>
            <a:r>
              <a:rPr lang="ja-JP" altLang="en-US" sz="2000"/>
              <a:t>年著書</a:t>
            </a:r>
            <a:r>
              <a:rPr lang="en-US" altLang="ja-JP" sz="2000" dirty="0"/>
              <a:t>『</a:t>
            </a:r>
            <a:r>
              <a:rPr lang="en" altLang="ja-JP" sz="2000" dirty="0"/>
              <a:t>NotionAI</a:t>
            </a:r>
            <a:r>
              <a:rPr lang="ja-JP" altLang="en-US" sz="2000"/>
              <a:t>ハック</a:t>
            </a:r>
            <a:r>
              <a:rPr lang="en-US" altLang="ja-JP" sz="2000" dirty="0"/>
              <a:t>』</a:t>
            </a:r>
            <a:r>
              <a:rPr lang="ja-JP" altLang="en-US" sz="2000"/>
              <a:t>翔泳社</a:t>
            </a:r>
            <a:endParaRPr lang="en-US" altLang="ja-JP" sz="2000" dirty="0"/>
          </a:p>
          <a:p>
            <a:r>
              <a:rPr lang="en-US" altLang="ja-JP" sz="2000" u="sng" dirty="0"/>
              <a:t>2025</a:t>
            </a:r>
            <a:r>
              <a:rPr lang="ja-JP" altLang="en-US" sz="2000" u="sng"/>
              <a:t>年デジタルハリウッド大学</a:t>
            </a:r>
            <a:r>
              <a:rPr lang="en-US" altLang="ja-JP" sz="2000" u="sng" dirty="0"/>
              <a:t> </a:t>
            </a:r>
            <a:r>
              <a:rPr lang="ja-JP" altLang="en-US" sz="2000" u="sng"/>
              <a:t>特任准教授</a:t>
            </a:r>
            <a:r>
              <a:rPr lang="en-US" altLang="ja-JP" sz="2000" u="sng" dirty="0"/>
              <a:t> </a:t>
            </a:r>
            <a:r>
              <a:rPr lang="ja-JP" altLang="en-US" sz="2000" u="sng"/>
              <a:t>就任</a:t>
            </a:r>
          </a:p>
          <a:p>
            <a:r>
              <a:rPr lang="en-US" altLang="ja-JP" sz="2000" dirty="0"/>
              <a:t>2026</a:t>
            </a:r>
            <a:r>
              <a:rPr lang="ja-JP" altLang="en-US" sz="2000"/>
              <a:t>年個人研修</a:t>
            </a:r>
            <a:r>
              <a:rPr lang="en-US" altLang="ja-JP" sz="2000" dirty="0"/>
              <a:t>8</a:t>
            </a:r>
            <a:r>
              <a:rPr lang="ja-JP" altLang="en-US" sz="2000"/>
              <a:t>万人</a:t>
            </a:r>
            <a:r>
              <a:rPr lang="en-US" altLang="ja-JP" sz="2000" dirty="0"/>
              <a:t>, </a:t>
            </a:r>
            <a:r>
              <a:rPr lang="ja-JP" altLang="en-US" sz="2000"/>
              <a:t>コミュニティ</a:t>
            </a:r>
            <a:r>
              <a:rPr lang="en-US" altLang="ja-JP" sz="2000" dirty="0"/>
              <a:t>”AI</a:t>
            </a:r>
            <a:r>
              <a:rPr lang="ja-JP" altLang="en-US" sz="2000"/>
              <a:t>木曜会</a:t>
            </a:r>
            <a:r>
              <a:rPr lang="en-US" altLang="ja-JP" sz="2000" dirty="0"/>
              <a:t>” </a:t>
            </a:r>
            <a:r>
              <a:rPr lang="ja-JP" altLang="en-US" sz="2000"/>
              <a:t>現在籍</a:t>
            </a:r>
            <a:r>
              <a:rPr lang="en-US" altLang="ja-JP" sz="2000" dirty="0"/>
              <a:t>4,000</a:t>
            </a:r>
            <a:r>
              <a:rPr lang="ja-JP" altLang="en-US" sz="2000"/>
              <a:t>人突破</a:t>
            </a:r>
            <a:endParaRPr lang="en-US" altLang="ja-JP" sz="2000" dirty="0"/>
          </a:p>
          <a:p>
            <a:r>
              <a:rPr lang="en-US" altLang="ja-JP" sz="2000" dirty="0"/>
              <a:t>2026</a:t>
            </a:r>
            <a:r>
              <a:rPr lang="ja-JP" altLang="en-US" sz="2000"/>
              <a:t>年法人向け研修</a:t>
            </a:r>
            <a:r>
              <a:rPr lang="en-US" altLang="ja-JP" sz="2000" dirty="0"/>
              <a:t>100</a:t>
            </a:r>
            <a:r>
              <a:rPr lang="ja-JP" altLang="en-US" sz="2000"/>
              <a:t>社突破</a:t>
            </a:r>
            <a:endParaRPr lang="en-US" altLang="ja-JP" sz="2000" dirty="0"/>
          </a:p>
          <a:p>
            <a:r>
              <a:rPr sz="2000" dirty="0"/>
              <a:t>SNS総フォロワー</a:t>
            </a:r>
            <a:r>
              <a:rPr lang="en-US" altLang="ja-JP" sz="2000" dirty="0"/>
              <a:t>6</a:t>
            </a:r>
            <a:r>
              <a:rPr sz="2000" dirty="0"/>
              <a:t>0万人越え（生成AI発信者日本一）</a:t>
            </a:r>
          </a:p>
        </p:txBody>
      </p:sp>
      <p:pic>
        <p:nvPicPr>
          <p:cNvPr id="5" name="Picture 4" descr="s005_sh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0" y="4753676"/>
            <a:ext cx="2285569" cy="1185110"/>
          </a:xfrm>
          <a:prstGeom prst="rect">
            <a:avLst/>
          </a:prstGeom>
        </p:spPr>
      </p:pic>
      <p:pic>
        <p:nvPicPr>
          <p:cNvPr id="7" name="図 6" descr="新聞の表紙&#10;&#10;AI 生成コンテンツは誤りを含む可能性があります。">
            <a:extLst>
              <a:ext uri="{FF2B5EF4-FFF2-40B4-BE49-F238E27FC236}">
                <a16:creationId xmlns:a16="http://schemas.microsoft.com/office/drawing/2014/main" id="{D0898630-B7A1-BA1A-5B22-FFEC1B2D1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020" y="4753676"/>
            <a:ext cx="2106863" cy="1185110"/>
          </a:xfrm>
          <a:prstGeom prst="rect">
            <a:avLst/>
          </a:prstGeom>
        </p:spPr>
      </p:pic>
      <p:pic>
        <p:nvPicPr>
          <p:cNvPr id="9" name="図 8" descr="スーツを着た男性たち&#10;&#10;AI 生成コンテンツは誤りを含む可能性があります。">
            <a:extLst>
              <a:ext uri="{FF2B5EF4-FFF2-40B4-BE49-F238E27FC236}">
                <a16:creationId xmlns:a16="http://schemas.microsoft.com/office/drawing/2014/main" id="{1D644754-65F8-B197-81F9-148E579A74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92" r="8932" b="19111"/>
          <a:stretch>
            <a:fillRect/>
          </a:stretch>
        </p:blipFill>
        <p:spPr>
          <a:xfrm>
            <a:off x="5569774" y="4754121"/>
            <a:ext cx="1790299" cy="1184665"/>
          </a:xfrm>
          <a:prstGeom prst="rect">
            <a:avLst/>
          </a:prstGeom>
        </p:spPr>
      </p:pic>
      <p:pic>
        <p:nvPicPr>
          <p:cNvPr id="11" name="図 10" descr="スーツを着ている人たち&#10;&#10;AI 生成コンテンツは誤りを含む可能性があります。">
            <a:extLst>
              <a:ext uri="{FF2B5EF4-FFF2-40B4-BE49-F238E27FC236}">
                <a16:creationId xmlns:a16="http://schemas.microsoft.com/office/drawing/2014/main" id="{871D933B-0B73-DACE-1652-241086BC5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136" y="4190116"/>
            <a:ext cx="1816063" cy="174867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B1B5D11-7A38-4D16-D9A5-7C501AA3C6BA}"/>
              </a:ext>
            </a:extLst>
          </p:cNvPr>
          <p:cNvSpPr txBox="1">
            <a:spLocks/>
          </p:cNvSpPr>
          <p:nvPr/>
        </p:nvSpPr>
        <p:spPr>
          <a:xfrm>
            <a:off x="777240" y="5938786"/>
            <a:ext cx="2495780" cy="485879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ビジネス番組</a:t>
            </a:r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</a:rPr>
              <a:t> PIVOT</a:t>
            </a:r>
          </a:p>
          <a:p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複数回出演</a:t>
            </a:r>
            <a:endParaRPr lang="ja-JP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AE140B4-2DDD-13C7-CD6C-B06261805984}"/>
              </a:ext>
            </a:extLst>
          </p:cNvPr>
          <p:cNvSpPr txBox="1">
            <a:spLocks/>
          </p:cNvSpPr>
          <p:nvPr/>
        </p:nvSpPr>
        <p:spPr>
          <a:xfrm>
            <a:off x="3267475" y="5902989"/>
            <a:ext cx="2495780" cy="485879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国民民主党</a:t>
            </a:r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玉木氏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</a:rPr>
              <a:t>YouTube</a:t>
            </a:r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・</a:t>
            </a:r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</a:rPr>
              <a:t>Instagram</a:t>
            </a:r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対談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E9ADBBD-08CD-362B-14B7-0BAA4BBF5A1C}"/>
              </a:ext>
            </a:extLst>
          </p:cNvPr>
          <p:cNvSpPr txBox="1">
            <a:spLocks/>
          </p:cNvSpPr>
          <p:nvPr/>
        </p:nvSpPr>
        <p:spPr>
          <a:xfrm>
            <a:off x="5564229" y="5902989"/>
            <a:ext cx="2495780" cy="485879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テレビ朝日ガリベンチャー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複数回に出演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9AEB59D-D913-D76D-0E3D-10BDA52DEBE1}"/>
              </a:ext>
            </a:extLst>
          </p:cNvPr>
          <p:cNvSpPr txBox="1">
            <a:spLocks/>
          </p:cNvSpPr>
          <p:nvPr/>
        </p:nvSpPr>
        <p:spPr>
          <a:xfrm>
            <a:off x="7708715" y="5902989"/>
            <a:ext cx="2495780" cy="485879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</a:rPr>
              <a:t>Anthropic CEO Dario</a:t>
            </a:r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氏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衆議院会館にて会合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FB00453-84F2-FBC2-449B-3F8083933D06}"/>
              </a:ext>
            </a:extLst>
          </p:cNvPr>
          <p:cNvSpPr txBox="1">
            <a:spLocks/>
          </p:cNvSpPr>
          <p:nvPr/>
        </p:nvSpPr>
        <p:spPr>
          <a:xfrm>
            <a:off x="9787886" y="5902989"/>
            <a:ext cx="2495780" cy="485879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</a:rPr>
              <a:t>Google</a:t>
            </a:r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社での</a:t>
            </a:r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</a:rPr>
              <a:t>Gemini</a:t>
            </a:r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イベント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ja-JP" altLang="en-US" sz="1200">
                <a:solidFill>
                  <a:schemeClr val="bg1">
                    <a:lumMod val="65000"/>
                  </a:schemeClr>
                </a:solidFill>
              </a:rPr>
              <a:t>複数回登壇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2" name="図 21" descr="人, フロント, 男, 探す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4FB39AA-C75B-BAB4-0259-9199881762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8000"/>
                    </a14:imgEffect>
                    <a14:imgEffect>
                      <a14:colorTemperature colorTemp="6532"/>
                    </a14:imgEffect>
                    <a14:imgEffect>
                      <a14:brightnessContrast bright="19000"/>
                    </a14:imgEffect>
                  </a14:imgLayer>
                </a14:imgProps>
              </a:ext>
            </a:extLst>
          </a:blip>
          <a:srcRect l="9636" t="5238" r="17625" b="13925"/>
          <a:stretch>
            <a:fillRect/>
          </a:stretch>
        </p:blipFill>
        <p:spPr>
          <a:xfrm>
            <a:off x="9787886" y="1701981"/>
            <a:ext cx="2144486" cy="4236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EA4F5-242C-7759-C3B3-B6FB5BD8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856E-0AA4-C131-8996-DB9F82C7A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教育者としての活動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5B0D5-C289-9F0A-E8F3-602D39772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年：デジタルハリウッド大学特任准教授着任（最年少）</a:t>
            </a:r>
            <a:endParaRPr lang="en-US" altLang="ja-JP" dirty="0"/>
          </a:p>
          <a:p>
            <a:r>
              <a:rPr lang="ja-JP" altLang="en-US"/>
              <a:t>文科省主催「数理データサイエンス</a:t>
            </a:r>
            <a:r>
              <a:rPr lang="en-US" altLang="ja-JP" dirty="0"/>
              <a:t>AI</a:t>
            </a:r>
            <a:r>
              <a:rPr lang="ja-JP" altLang="en-US"/>
              <a:t>」認定講師</a:t>
            </a:r>
            <a:endParaRPr lang="en-US" altLang="ja-JP" dirty="0"/>
          </a:p>
          <a:p>
            <a:r>
              <a:rPr lang="en-US" altLang="ja-JP" dirty="0"/>
              <a:t>2026</a:t>
            </a:r>
            <a:r>
              <a:rPr lang="ja-JP" altLang="en-US"/>
              <a:t>年：リテラシーレベルプラス認定（私立大学では</a:t>
            </a:r>
            <a:r>
              <a:rPr lang="en-US" altLang="ja-JP" dirty="0"/>
              <a:t>2</a:t>
            </a:r>
            <a:r>
              <a:rPr lang="ja-JP" altLang="en-US"/>
              <a:t>校）</a:t>
            </a:r>
            <a:endParaRPr lang="en-US" altLang="ja-JP" dirty="0"/>
          </a:p>
          <a:p>
            <a:r>
              <a:rPr lang="en-US" altLang="ja-JP" dirty="0"/>
              <a:t>2026</a:t>
            </a:r>
            <a:r>
              <a:rPr lang="ja-JP" altLang="en-US"/>
              <a:t>年：高校生必修教科「探求学習」授業教材に臼井インタビュー掲載</a:t>
            </a:r>
            <a:endParaRPr dirty="0"/>
          </a:p>
        </p:txBody>
      </p:sp>
      <p:pic>
        <p:nvPicPr>
          <p:cNvPr id="2050" name="Picture 2" descr="リテラシーレベル　ロゴマーク">
            <a:extLst>
              <a:ext uri="{FF2B5EF4-FFF2-40B4-BE49-F238E27FC236}">
                <a16:creationId xmlns:a16="http://schemas.microsoft.com/office/drawing/2014/main" id="{B0E24531-EC53-D1E3-64D0-7E0B20E7C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280" y="3233851"/>
            <a:ext cx="4008324" cy="267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図 5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BB2FC214-6C39-AF79-2A1F-0D9DD20D6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604" y="3233851"/>
            <a:ext cx="2957688" cy="1663700"/>
          </a:xfrm>
          <a:prstGeom prst="rect">
            <a:avLst/>
          </a:prstGeom>
        </p:spPr>
      </p:pic>
      <p:pic>
        <p:nvPicPr>
          <p:cNvPr id="13" name="図 12" descr="黒いシャツを着ている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36B877E5-1E34-4C99-642B-F2D56FE6A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6" y="3429000"/>
            <a:ext cx="4178040" cy="278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94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236</Words>
  <Application>Microsoft Macintosh PowerPoint</Application>
  <PresentationFormat>ワイド画面</PresentationFormat>
  <Paragraphs>35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Noto Sans JP</vt:lpstr>
      <vt:lpstr>游ゴシック</vt:lpstr>
      <vt:lpstr>Arial</vt:lpstr>
      <vt:lpstr>Calibri</vt:lpstr>
      <vt:lpstr>Office Theme</vt:lpstr>
      <vt:lpstr>Michikusaのご紹介</vt:lpstr>
      <vt:lpstr>Michikusa株式会社について</vt:lpstr>
      <vt:lpstr>AI研修の導入実績</vt:lpstr>
      <vt:lpstr>代表臼井拓水 usutakuについて</vt:lpstr>
      <vt:lpstr>教育者としての活動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臼井拓水</cp:lastModifiedBy>
  <cp:revision>5</cp:revision>
  <dcterms:created xsi:type="dcterms:W3CDTF">2013-01-27T09:14:16Z</dcterms:created>
  <dcterms:modified xsi:type="dcterms:W3CDTF">2026-04-22T15:33:59Z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2026-04-22T13:41:43Z</vt:lpwstr>
  </property>
  <property fmtid="{D5CDD505-2E9C-101B-9397-08002B2CF9AE}" pid="4" name="MSIP_Label_defa4170-0d19-0005-0004-bc88714345d2_Method">
    <vt:lpwstr>Privileged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f2d1a802-e1e1-4f2a-bd2d-fbdbe092c1bb</vt:lpwstr>
  </property>
  <property fmtid="{D5CDD505-2E9C-101B-9397-08002B2CF9AE}" pid="7" name="MSIP_Label_defa4170-0d19-0005-0004-bc88714345d2_ActionId">
    <vt:lpwstr>b543df0f-c903-420e-bb23-3bb79a362443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50, 0, 1, 1</vt:lpwstr>
  </property>
</Properties>
</file>